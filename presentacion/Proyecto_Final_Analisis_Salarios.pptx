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A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1CBE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46888"/>
            <a:ext cx="10972800" cy="2286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1CBEA0"/>
                </a:solidFill>
                <a:latin typeface="Aptos"/>
              </a:defRPr>
            </a:pPr>
            <a:r>
              <a:t>PROYECTO FINAL · INGENIERÍA DE SISTEMAS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58368"/>
            <a:ext cx="1124712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800"/>
              </a:spcAft>
              <a:defRPr sz="2900" b="1">
                <a:solidFill>
                  <a:srgbClr val="F6FAFD"/>
                </a:solidFill>
                <a:latin typeface="Aptos"/>
              </a:defRPr>
            </a:pPr>
            <a:r>
              <a:t>Análisis y predicción de salarios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6437376"/>
            <a:ext cx="11201400" cy="10972"/>
          </a:xfrm>
          <a:prstGeom prst="rect">
            <a:avLst/>
          </a:prstGeom>
          <a:solidFill>
            <a:srgbClr val="354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6537960"/>
            <a:ext cx="11247120" cy="1828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AEC3D3"/>
                </a:solidFill>
                <a:latin typeface="Aptos"/>
              </a:defRPr>
            </a:pPr>
            <a:r>
              <a:t>PROYECTO FINAL · DATOS SINTÉTICOS                                      01 / 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691640"/>
            <a:ext cx="10058400" cy="5943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800"/>
              </a:spcAft>
              <a:defRPr sz="2800" b="0">
                <a:solidFill>
                  <a:srgbClr val="AEC3D3"/>
                </a:solidFill>
                <a:latin typeface="Aptos"/>
              </a:defRPr>
            </a:pPr>
            <a:r>
              <a:t>De los datos a decisiones responsables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2532888"/>
            <a:ext cx="9784080" cy="18288"/>
          </a:xfrm>
          <a:prstGeom prst="rect">
            <a:avLst/>
          </a:prstGeom>
          <a:solidFill>
            <a:srgbClr val="1CBE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66928" y="2953512"/>
            <a:ext cx="10058400" cy="6400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800"/>
              </a:spcAft>
              <a:defRPr sz="2200" b="0">
                <a:solidFill>
                  <a:srgbClr val="F6FAFD"/>
                </a:solidFill>
                <a:latin typeface="Aptos"/>
              </a:defRPr>
            </a:pPr>
            <a:r>
              <a:t>Exploración  ·  Estadística  ·  Regresión lineal  ·  Storytelling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5166360"/>
            <a:ext cx="10058400" cy="3657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AEC3D3"/>
                </a:solidFill>
                <a:latin typeface="Aptos"/>
              </a:defRPr>
            </a:pPr>
            <a:r>
              <a:t>Equipo: [Integrante 1] · [Integrante 2] · [Integrante 3 opcional]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5669280"/>
            <a:ext cx="10058400" cy="29260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1CBEA0"/>
                </a:solidFill>
                <a:latin typeface="Aptos"/>
              </a:defRPr>
            </a:pPr>
            <a:r>
              <a:t>Dataset ficticio de nómina en Colombia · Octubre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A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1CBE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46888"/>
            <a:ext cx="10972800" cy="2286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1CBEA0"/>
                </a:solidFill>
                <a:latin typeface="Aptos"/>
              </a:defRPr>
            </a:pPr>
            <a:r>
              <a:t>CIENCIA DE DATOS EN ACCIÓN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58368"/>
            <a:ext cx="1124712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800"/>
              </a:spcAft>
              <a:defRPr sz="2900" b="1">
                <a:solidFill>
                  <a:srgbClr val="F6FAFD"/>
                </a:solidFill>
                <a:latin typeface="Aptos"/>
              </a:defRPr>
            </a:pPr>
            <a:r>
              <a:t>El problema y la pregunta de investigación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6437376"/>
            <a:ext cx="11201400" cy="10972"/>
          </a:xfrm>
          <a:prstGeom prst="rect">
            <a:avLst/>
          </a:prstGeom>
          <a:solidFill>
            <a:srgbClr val="354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6537960"/>
            <a:ext cx="11247120" cy="1828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AEC3D3"/>
                </a:solidFill>
                <a:latin typeface="Aptos"/>
              </a:defRPr>
            </a:pPr>
            <a:r>
              <a:t>PROYECTO FINAL · DATOS SINTÉTICOS                                      02 / 11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30352" y="1581912"/>
            <a:ext cx="5532120" cy="4160520"/>
          </a:xfrm>
          <a:prstGeom prst="roundRect">
            <a:avLst/>
          </a:prstGeom>
          <a:solidFill>
            <a:srgbClr val="142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94944" y="1783080"/>
            <a:ext cx="54864" cy="347472"/>
          </a:xfrm>
          <a:prstGeom prst="rect">
            <a:avLst/>
          </a:prstGeom>
          <a:solidFill>
            <a:srgbClr val="1CBE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1783080"/>
            <a:ext cx="4983480" cy="39319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800"/>
              </a:spcAft>
              <a:defRPr sz="1900" b="1">
                <a:solidFill>
                  <a:srgbClr val="F6FAFD"/>
                </a:solidFill>
                <a:latin typeface="Aptos"/>
              </a:defRPr>
            </a:pPr>
            <a:r>
              <a:t>CONTEXTO PROFESIONAL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59" y="2313432"/>
            <a:ext cx="4946904" cy="33375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AEC3D3"/>
                </a:solidFill>
                <a:latin typeface="Aptos"/>
              </a:defRPr>
            </a:pPr>
            <a:r>
              <a:t>Un área de Talento Humano necesita entender cómo varían los salarios y evaluar si un modelo puede estimar valores orientativos a partir de información laboral. El análisis no reemplaza la política salarial.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63640" y="1581912"/>
            <a:ext cx="5394960" cy="4160520"/>
          </a:xfrm>
          <a:prstGeom prst="roundRect">
            <a:avLst/>
          </a:prstGeom>
          <a:solidFill>
            <a:srgbClr val="142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28231" y="1783080"/>
            <a:ext cx="54864" cy="347472"/>
          </a:xfrm>
          <a:prstGeom prst="rect">
            <a:avLst/>
          </a:prstGeom>
          <a:solidFill>
            <a:srgbClr val="3C85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29400" y="1783080"/>
            <a:ext cx="4846320" cy="39319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800"/>
              </a:spcAft>
              <a:defRPr sz="1900" b="1">
                <a:solidFill>
                  <a:srgbClr val="F6FAFD"/>
                </a:solidFill>
                <a:latin typeface="Aptos"/>
              </a:defRPr>
            </a:pPr>
            <a:r>
              <a:t>PREGUNTA CENTRAL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56248" y="2313432"/>
            <a:ext cx="4809744" cy="33375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AEC3D3"/>
                </a:solidFill>
                <a:latin typeface="Aptos"/>
              </a:defRPr>
            </a:pPr>
            <a:r>
              <a:t>¿Cómo se relacionan el nivel de cargo, la experiencia y el departamento con el salario mensual? ¿Una regresión lineal supera una predicción basada solo en la mediana?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A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1CBE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46888"/>
            <a:ext cx="10972800" cy="2286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1CBEA0"/>
                </a:solidFill>
                <a:latin typeface="Aptos"/>
              </a:defRPr>
            </a:pPr>
            <a:r>
              <a:t>CIENCIA DE DATOS EN ACCIÓN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58368"/>
            <a:ext cx="1124712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800"/>
              </a:spcAft>
              <a:defRPr sz="2900" b="1">
                <a:solidFill>
                  <a:srgbClr val="F6FAFD"/>
                </a:solidFill>
                <a:latin typeface="Aptos"/>
              </a:defRPr>
            </a:pPr>
            <a:r>
              <a:t>Etapa 1 · Origen y estructura de los datos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6437376"/>
            <a:ext cx="11201400" cy="10972"/>
          </a:xfrm>
          <a:prstGeom prst="rect">
            <a:avLst/>
          </a:prstGeom>
          <a:solidFill>
            <a:srgbClr val="354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6537960"/>
            <a:ext cx="11247120" cy="1828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AEC3D3"/>
                </a:solidFill>
                <a:latin typeface="Aptos"/>
              </a:defRPr>
            </a:pPr>
            <a:r>
              <a:t>PROYECTO FINAL · DATOS SINTÉTICOS                                      03 / 11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700784"/>
            <a:ext cx="3474720" cy="1600200"/>
          </a:xfrm>
          <a:prstGeom prst="roundRect">
            <a:avLst/>
          </a:prstGeom>
          <a:solidFill>
            <a:srgbClr val="142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95528" y="1865376"/>
            <a:ext cx="292608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800"/>
              </a:spcAft>
              <a:defRPr sz="3400" b="1">
                <a:solidFill>
                  <a:srgbClr val="1CBEA0"/>
                </a:solidFill>
                <a:latin typeface="Aptos"/>
              </a:defRPr>
            </a:pPr>
            <a:r>
              <a:t>1.514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5528" y="2670048"/>
            <a:ext cx="3017520" cy="32004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AEC3D3"/>
                </a:solidFill>
                <a:latin typeface="Aptos"/>
              </a:defRPr>
            </a:pPr>
            <a:r>
              <a:t>filas originales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61688" y="1700784"/>
            <a:ext cx="3474720" cy="1600200"/>
          </a:xfrm>
          <a:prstGeom prst="roundRect">
            <a:avLst/>
          </a:prstGeom>
          <a:solidFill>
            <a:srgbClr val="142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08575" y="1865376"/>
            <a:ext cx="292608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800"/>
              </a:spcAft>
              <a:defRPr sz="3400" b="1">
                <a:solidFill>
                  <a:srgbClr val="3C85E7"/>
                </a:solidFill>
                <a:latin typeface="Aptos"/>
              </a:defRPr>
            </a:pPr>
            <a:r>
              <a:t>12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08575" y="2670048"/>
            <a:ext cx="3017520" cy="32004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AEC3D3"/>
                </a:solidFill>
                <a:latin typeface="Aptos"/>
              </a:defRPr>
            </a:pPr>
            <a:r>
              <a:t>columnas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65592" y="1700784"/>
            <a:ext cx="3474720" cy="1600200"/>
          </a:xfrm>
          <a:prstGeom prst="roundRect">
            <a:avLst/>
          </a:prstGeom>
          <a:solidFill>
            <a:srgbClr val="142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12480" y="1865376"/>
            <a:ext cx="292608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800"/>
              </a:spcAft>
              <a:defRPr sz="3400" b="1">
                <a:solidFill>
                  <a:srgbClr val="9C6FEA"/>
                </a:solidFill>
                <a:latin typeface="Aptos"/>
              </a:defRPr>
            </a:pPr>
            <a:r>
              <a:t>100%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0" y="2670048"/>
            <a:ext cx="3017520" cy="32004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AEC3D3"/>
                </a:solidFill>
                <a:latin typeface="Aptos"/>
              </a:defRPr>
            </a:pPr>
            <a:r>
              <a:t>datos ficticios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3858768"/>
            <a:ext cx="10607040" cy="100584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800"/>
              </a:spcAft>
              <a:defRPr sz="2100" b="0">
                <a:solidFill>
                  <a:srgbClr val="F6FAFD"/>
                </a:solidFill>
                <a:latin typeface="Aptos"/>
              </a:defRPr>
            </a:pPr>
            <a:r>
              <a:t>Variables: salario mensual COP, nivel de cargo, experiencia, antigüedad, departamento, educación, ciudad, modalidad y horas extra.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5148072"/>
            <a:ext cx="10698480" cy="6858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AEC3D3"/>
                </a:solidFill>
                <a:latin typeface="Aptos"/>
              </a:defRPr>
            </a:pPr>
            <a:r>
              <a:t>Fuente: generación reproducible con Python (semilla 202611). No contiene registros reales, datos personales ni información empresarial.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A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1CBE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46888"/>
            <a:ext cx="10972800" cy="2286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1CBEA0"/>
                </a:solidFill>
                <a:latin typeface="Aptos"/>
              </a:defRPr>
            </a:pPr>
            <a:r>
              <a:t>CIENCIA DE DATOS EN ACCIÓN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58368"/>
            <a:ext cx="1124712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800"/>
              </a:spcAft>
              <a:defRPr sz="2900" b="1">
                <a:solidFill>
                  <a:srgbClr val="F6FAFD"/>
                </a:solidFill>
                <a:latin typeface="Aptos"/>
              </a:defRPr>
            </a:pPr>
            <a:r>
              <a:t>Etapa 1 · Depuración y control de calidad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6437376"/>
            <a:ext cx="11201400" cy="10972"/>
          </a:xfrm>
          <a:prstGeom prst="rect">
            <a:avLst/>
          </a:prstGeom>
          <a:solidFill>
            <a:srgbClr val="354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6537960"/>
            <a:ext cx="11247120" cy="1828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AEC3D3"/>
                </a:solidFill>
                <a:latin typeface="Aptos"/>
              </a:defRPr>
            </a:pPr>
            <a:r>
              <a:t>PROYECTO FINAL · DATOS SINTÉTICOS                                      04 / 11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856231"/>
            <a:ext cx="2633472" cy="2066543"/>
          </a:xfrm>
          <a:prstGeom prst="roundRect">
            <a:avLst/>
          </a:prstGeom>
          <a:solidFill>
            <a:srgbClr val="142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536" y="2258568"/>
            <a:ext cx="2148840" cy="5943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800"/>
              </a:spcAft>
              <a:defRPr sz="3000" b="1">
                <a:solidFill>
                  <a:srgbClr val="3C85E7"/>
                </a:solidFill>
                <a:latin typeface="Aptos"/>
              </a:defRPr>
            </a:pPr>
            <a:r>
              <a:t>1.514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59" y="2971800"/>
            <a:ext cx="2350008" cy="6583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AEC3D3"/>
                </a:solidFill>
                <a:latin typeface="Aptos"/>
              </a:defRPr>
            </a:pPr>
            <a:r>
              <a:t>Registros originales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66160" y="1856231"/>
            <a:ext cx="2633472" cy="2066543"/>
          </a:xfrm>
          <a:prstGeom prst="roundRect">
            <a:avLst/>
          </a:prstGeom>
          <a:solidFill>
            <a:srgbClr val="142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67328" y="2258568"/>
            <a:ext cx="2148840" cy="5943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800"/>
              </a:spcAft>
              <a:defRPr sz="3000" b="1">
                <a:solidFill>
                  <a:srgbClr val="F5B14E"/>
                </a:solidFill>
                <a:latin typeface="Aptos"/>
              </a:defRPr>
            </a:pPr>
            <a:r>
              <a:t>−14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30752" y="2971800"/>
            <a:ext cx="2350008" cy="6583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AEC3D3"/>
                </a:solidFill>
                <a:latin typeface="Aptos"/>
              </a:defRPr>
            </a:pPr>
            <a:r>
              <a:t>Duplicados exactos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73952" y="1856231"/>
            <a:ext cx="2633472" cy="2066543"/>
          </a:xfrm>
          <a:prstGeom prst="roundRect">
            <a:avLst/>
          </a:prstGeom>
          <a:solidFill>
            <a:srgbClr val="142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75120" y="2258568"/>
            <a:ext cx="2148840" cy="5943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800"/>
              </a:spcAft>
              <a:defRPr sz="3000" b="1">
                <a:solidFill>
                  <a:srgbClr val="F5B14E"/>
                </a:solidFill>
                <a:latin typeface="Aptos"/>
              </a:defRPr>
            </a:pPr>
            <a:r>
              <a:t>−16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38544" y="2971800"/>
            <a:ext cx="2350008" cy="6583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AEC3D3"/>
                </a:solidFill>
                <a:latin typeface="Aptos"/>
              </a:defRPr>
            </a:pPr>
            <a:r>
              <a:t>Salarios/edades inválidos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381744" y="1856231"/>
            <a:ext cx="2633472" cy="2066543"/>
          </a:xfrm>
          <a:prstGeom prst="roundRect">
            <a:avLst/>
          </a:prstGeom>
          <a:solidFill>
            <a:srgbClr val="142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582912" y="2258568"/>
            <a:ext cx="2148840" cy="5943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800"/>
              </a:spcAft>
              <a:defRPr sz="3000" b="1">
                <a:solidFill>
                  <a:srgbClr val="1CBEA0"/>
                </a:solidFill>
                <a:latin typeface="Aptos"/>
              </a:defRPr>
            </a:pPr>
            <a:r>
              <a:t>1.484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546336" y="2971800"/>
            <a:ext cx="2350008" cy="65836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AEC3D3"/>
                </a:solidFill>
                <a:latin typeface="Aptos"/>
              </a:defRPr>
            </a:pPr>
            <a:r>
              <a:t>Registros finales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3232" y="4709160"/>
            <a:ext cx="10789920" cy="100584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800"/>
              </a:spcAft>
              <a:defRPr sz="2000" b="0">
                <a:solidFill>
                  <a:srgbClr val="F6FAFD"/>
                </a:solidFill>
                <a:latin typeface="Aptos"/>
              </a:defRPr>
            </a:pPr>
            <a:r>
              <a:t>Además: se estandarizaron etiquetas, se imputaron valores faltantes y se conservaron outliers plausibles.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A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1CBE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46888"/>
            <a:ext cx="10972800" cy="2286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1CBEA0"/>
                </a:solidFill>
                <a:latin typeface="Aptos"/>
              </a:defRPr>
            </a:pPr>
            <a:r>
              <a:t>CIENCIA DE DATOS EN ACCIÓN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58368"/>
            <a:ext cx="1124712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800"/>
              </a:spcAft>
              <a:defRPr sz="2900" b="1">
                <a:solidFill>
                  <a:srgbClr val="F6FAFD"/>
                </a:solidFill>
                <a:latin typeface="Aptos"/>
              </a:defRPr>
            </a:pPr>
            <a:r>
              <a:t>Etapa 2 · ¿Cómo se distribuyen los salarios?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6437376"/>
            <a:ext cx="11201400" cy="10972"/>
          </a:xfrm>
          <a:prstGeom prst="rect">
            <a:avLst/>
          </a:prstGeom>
          <a:solidFill>
            <a:srgbClr val="354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6537960"/>
            <a:ext cx="11247120" cy="1828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AEC3D3"/>
                </a:solidFill>
                <a:latin typeface="Aptos"/>
              </a:defRPr>
            </a:pPr>
            <a:r>
              <a:t>PROYECTO FINAL · DATOS SINTÉTICOS                                      05 / 11</a:t>
            </a:r>
          </a:p>
        </p:txBody>
      </p:sp>
      <p:pic>
        <p:nvPicPr>
          <p:cNvPr id="8" name="Picture 7" descr="01_distribucion_salari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669796"/>
            <a:ext cx="7534656" cy="4185919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8293608" y="1572768"/>
            <a:ext cx="3264408" cy="4389120"/>
          </a:xfrm>
          <a:prstGeom prst="roundRect">
            <a:avLst/>
          </a:prstGeom>
          <a:solidFill>
            <a:srgbClr val="142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458200" y="1773936"/>
            <a:ext cx="54864" cy="347472"/>
          </a:xfrm>
          <a:prstGeom prst="rect">
            <a:avLst/>
          </a:prstGeom>
          <a:solidFill>
            <a:srgbClr val="1CBE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59368" y="1773936"/>
            <a:ext cx="2715768" cy="39319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800"/>
              </a:spcAft>
              <a:defRPr sz="1900" b="1">
                <a:solidFill>
                  <a:srgbClr val="F6FAFD"/>
                </a:solidFill>
                <a:latin typeface="Aptos"/>
              </a:defRPr>
            </a:pPr>
            <a:r>
              <a:t>LECTURA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86216" y="2304288"/>
            <a:ext cx="2679191" cy="356616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AEC3D3"/>
                </a:solidFill>
                <a:latin typeface="Aptos"/>
              </a:defRPr>
            </a:pPr>
            <a:r>
              <a:t>Media: $6,403,693</a:t>
            </a:r>
          </a:p>
          <a:p>
            <a:pPr>
              <a:spcAft>
                <a:spcPts val="800"/>
              </a:spcAft>
              <a:defRPr sz="1600" b="0">
                <a:solidFill>
                  <a:srgbClr val="AEC3D3"/>
                </a:solidFill>
                <a:latin typeface="Aptos"/>
              </a:defRPr>
            </a:pPr>
          </a:p>
          <a:p>
            <a:pPr>
              <a:spcAft>
                <a:spcPts val="800"/>
              </a:spcAft>
              <a:defRPr sz="1600" b="0">
                <a:solidFill>
                  <a:srgbClr val="AEC3D3"/>
                </a:solidFill>
                <a:latin typeface="Aptos"/>
              </a:defRPr>
            </a:pPr>
            <a:r>
              <a:t>Mediana: $6,198,000</a:t>
            </a:r>
          </a:p>
          <a:p>
            <a:pPr>
              <a:spcAft>
                <a:spcPts val="800"/>
              </a:spcAft>
              <a:defRPr sz="1600" b="0">
                <a:solidFill>
                  <a:srgbClr val="AEC3D3"/>
                </a:solidFill>
                <a:latin typeface="Aptos"/>
              </a:defRPr>
            </a:pPr>
          </a:p>
          <a:p>
            <a:pPr>
              <a:spcAft>
                <a:spcPts val="800"/>
              </a:spcAft>
              <a:defRPr sz="1600" b="0">
                <a:solidFill>
                  <a:srgbClr val="AEC3D3"/>
                </a:solidFill>
                <a:latin typeface="Aptos"/>
              </a:defRPr>
            </a:pPr>
            <a:r>
              <a:t>Se observa dispersión entre salarios; no todos ganan cerca del promedio.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A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1CBE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46888"/>
            <a:ext cx="10972800" cy="2286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1CBEA0"/>
                </a:solidFill>
                <a:latin typeface="Aptos"/>
              </a:defRPr>
            </a:pPr>
            <a:r>
              <a:t>CIENCIA DE DATOS EN ACCIÓN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58368"/>
            <a:ext cx="1124712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800"/>
              </a:spcAft>
              <a:defRPr sz="2900" b="1">
                <a:solidFill>
                  <a:srgbClr val="F6FAFD"/>
                </a:solidFill>
                <a:latin typeface="Aptos"/>
              </a:defRPr>
            </a:pPr>
            <a:r>
              <a:t>Etapa 2 · Comparación por grupo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6437376"/>
            <a:ext cx="11201400" cy="10972"/>
          </a:xfrm>
          <a:prstGeom prst="rect">
            <a:avLst/>
          </a:prstGeom>
          <a:solidFill>
            <a:srgbClr val="354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6537960"/>
            <a:ext cx="11247120" cy="1828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AEC3D3"/>
                </a:solidFill>
                <a:latin typeface="Aptos"/>
              </a:defRPr>
            </a:pPr>
            <a:r>
              <a:t>PROYECTO FINAL · DATOS SINTÉTICOS                                      06 / 11</a:t>
            </a:r>
          </a:p>
        </p:txBody>
      </p:sp>
      <p:pic>
        <p:nvPicPr>
          <p:cNvPr id="8" name="Picture 7" descr="02_salario_por_departament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776" y="2243388"/>
            <a:ext cx="5559552" cy="3002158"/>
          </a:xfrm>
          <a:prstGeom prst="rect">
            <a:avLst/>
          </a:prstGeom>
        </p:spPr>
      </p:pic>
      <p:pic>
        <p:nvPicPr>
          <p:cNvPr id="9" name="Picture 8" descr="03_boxplot_nivel_car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2263140"/>
            <a:ext cx="5486400" cy="296265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94360" y="5879592"/>
            <a:ext cx="10972800" cy="338328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AEC3D3"/>
                </a:solidFill>
                <a:latin typeface="Aptos"/>
              </a:defRPr>
            </a:pPr>
            <a:r>
              <a:t>Los promedios departamentales también reflejan la composición de cargos.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A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1CBE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46888"/>
            <a:ext cx="10972800" cy="2286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1CBEA0"/>
                </a:solidFill>
                <a:latin typeface="Aptos"/>
              </a:defRPr>
            </a:pPr>
            <a:r>
              <a:t>CIENCIA DE DATOS EN ACCIÓN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58368"/>
            <a:ext cx="1124712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800"/>
              </a:spcAft>
              <a:defRPr sz="2900" b="1">
                <a:solidFill>
                  <a:srgbClr val="F6FAFD"/>
                </a:solidFill>
                <a:latin typeface="Aptos"/>
              </a:defRPr>
            </a:pPr>
            <a:r>
              <a:t>Etapa 2 · Relaciones e hipótesis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6437376"/>
            <a:ext cx="11201400" cy="10972"/>
          </a:xfrm>
          <a:prstGeom prst="rect">
            <a:avLst/>
          </a:prstGeom>
          <a:solidFill>
            <a:srgbClr val="354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6537960"/>
            <a:ext cx="11247120" cy="1828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AEC3D3"/>
                </a:solidFill>
                <a:latin typeface="Aptos"/>
              </a:defRPr>
            </a:pPr>
            <a:r>
              <a:t>PROYECTO FINAL · DATOS SINTÉTICOS                                      07 / 11</a:t>
            </a:r>
          </a:p>
        </p:txBody>
      </p:sp>
      <p:pic>
        <p:nvPicPr>
          <p:cNvPr id="8" name="Picture 7" descr="04_matriz_correlacion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0688" y="1572768"/>
            <a:ext cx="6413862" cy="4489704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7360920" y="1664208"/>
            <a:ext cx="4224528" cy="4279392"/>
          </a:xfrm>
          <a:prstGeom prst="roundRect">
            <a:avLst/>
          </a:prstGeom>
          <a:solidFill>
            <a:srgbClr val="142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525512" y="1865376"/>
            <a:ext cx="54864" cy="347472"/>
          </a:xfrm>
          <a:prstGeom prst="rect">
            <a:avLst/>
          </a:prstGeom>
          <a:solidFill>
            <a:srgbClr val="9C6F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26680" y="1865376"/>
            <a:ext cx="3675888" cy="39319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800"/>
              </a:spcAft>
              <a:defRPr sz="1900" b="1">
                <a:solidFill>
                  <a:srgbClr val="F6FAFD"/>
                </a:solidFill>
                <a:latin typeface="Aptos"/>
              </a:defRPr>
            </a:pPr>
            <a:r>
              <a:t>HIPÓTESIS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653528" y="2395728"/>
            <a:ext cx="3639312" cy="345643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AEC3D3"/>
                </a:solidFill>
                <a:latin typeface="Aptos"/>
              </a:defRPr>
            </a:pPr>
            <a:r>
              <a:t>Nivel de cargo ↔ salario: r = 0.69.</a:t>
            </a:r>
          </a:p>
          <a:p>
            <a:pPr>
              <a:spcAft>
                <a:spcPts val="800"/>
              </a:spcAft>
              <a:defRPr sz="1700" b="0">
                <a:solidFill>
                  <a:srgbClr val="AEC3D3"/>
                </a:solidFill>
                <a:latin typeface="Aptos"/>
              </a:defRPr>
            </a:pPr>
          </a:p>
          <a:p>
            <a:pPr>
              <a:spcAft>
                <a:spcPts val="800"/>
              </a:spcAft>
              <a:defRPr sz="1700" b="0">
                <a:solidFill>
                  <a:srgbClr val="AEC3D3"/>
                </a:solidFill>
                <a:latin typeface="Aptos"/>
              </a:defRPr>
            </a:pPr>
            <a:r>
              <a:t>Experiencia ↔ salario: r = 0.58.</a:t>
            </a:r>
          </a:p>
          <a:p>
            <a:pPr>
              <a:spcAft>
                <a:spcPts val="800"/>
              </a:spcAft>
              <a:defRPr sz="1700" b="0">
                <a:solidFill>
                  <a:srgbClr val="AEC3D3"/>
                </a:solidFill>
                <a:latin typeface="Aptos"/>
              </a:defRPr>
            </a:pPr>
          </a:p>
          <a:p>
            <a:pPr>
              <a:spcAft>
                <a:spcPts val="800"/>
              </a:spcAft>
              <a:defRPr sz="1700" b="0">
                <a:solidFill>
                  <a:srgbClr val="AEC3D3"/>
                </a:solidFill>
                <a:latin typeface="Aptos"/>
              </a:defRPr>
            </a:pPr>
            <a:r>
              <a:t>Correlación no significa causalidad.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A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1CBE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46888"/>
            <a:ext cx="10972800" cy="2286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1CBEA0"/>
                </a:solidFill>
                <a:latin typeface="Aptos"/>
              </a:defRPr>
            </a:pPr>
            <a:r>
              <a:t>CIENCIA DE DATOS EN ACCIÓN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58368"/>
            <a:ext cx="1124712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800"/>
              </a:spcAft>
              <a:defRPr sz="2900" b="1">
                <a:solidFill>
                  <a:srgbClr val="F6FAFD"/>
                </a:solidFill>
                <a:latin typeface="Aptos"/>
              </a:defRPr>
            </a:pPr>
            <a:r>
              <a:t>Etapa 3 · Diseño de la predicción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6437376"/>
            <a:ext cx="11201400" cy="10972"/>
          </a:xfrm>
          <a:prstGeom prst="rect">
            <a:avLst/>
          </a:prstGeom>
          <a:solidFill>
            <a:srgbClr val="354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6537960"/>
            <a:ext cx="11247120" cy="1828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AEC3D3"/>
                </a:solidFill>
                <a:latin typeface="Aptos"/>
              </a:defRPr>
            </a:pPr>
            <a:r>
              <a:t>PROYECTO FINAL · DATOS SINTÉTICOS                                      08 / 11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30352" y="1627632"/>
            <a:ext cx="3364992" cy="4361688"/>
          </a:xfrm>
          <a:prstGeom prst="roundRect">
            <a:avLst/>
          </a:prstGeom>
          <a:solidFill>
            <a:srgbClr val="142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94944" y="1828800"/>
            <a:ext cx="54864" cy="347472"/>
          </a:xfrm>
          <a:prstGeom prst="rect">
            <a:avLst/>
          </a:prstGeom>
          <a:solidFill>
            <a:srgbClr val="1CBE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1828800"/>
            <a:ext cx="2816352" cy="39319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800"/>
              </a:spcAft>
              <a:defRPr sz="1900" b="1">
                <a:solidFill>
                  <a:srgbClr val="F6FAFD"/>
                </a:solidFill>
                <a:latin typeface="Aptos"/>
              </a:defRPr>
            </a:pPr>
            <a:r>
              <a:t>1 · PREPARAR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59" y="2359152"/>
            <a:ext cx="2779776" cy="3538727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AEC3D3"/>
                </a:solidFill>
                <a:latin typeface="Aptos"/>
              </a:defRPr>
            </a:pPr>
            <a:r>
              <a:t>Predictores: cargo, experiencia, antigüedad, departamento, educación, ciudad, modalidad y horas extra. Transformación categórica One Hot.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98264" y="1627632"/>
            <a:ext cx="3383280" cy="4361688"/>
          </a:xfrm>
          <a:prstGeom prst="roundRect">
            <a:avLst/>
          </a:prstGeom>
          <a:solidFill>
            <a:srgbClr val="142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62855" y="1828800"/>
            <a:ext cx="54864" cy="347472"/>
          </a:xfrm>
          <a:prstGeom prst="rect">
            <a:avLst/>
          </a:prstGeom>
          <a:solidFill>
            <a:srgbClr val="3C85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764024" y="1828800"/>
            <a:ext cx="2834640" cy="39319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800"/>
              </a:spcAft>
              <a:defRPr sz="1900" b="1">
                <a:solidFill>
                  <a:srgbClr val="F6FAFD"/>
                </a:solidFill>
                <a:latin typeface="Aptos"/>
              </a:defRPr>
            </a:pPr>
            <a:r>
              <a:t>2 · ENTRENAR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90872" y="2359152"/>
            <a:ext cx="2798064" cy="3538727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AEC3D3"/>
                </a:solidFill>
                <a:latin typeface="Aptos"/>
              </a:defRPr>
            </a:pPr>
            <a:r>
              <a:t>1,187 registros (80%) para ajustar regresión lineal. Se compara con el valor mediano del entrenamiento.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66175" y="1627632"/>
            <a:ext cx="3383280" cy="4361688"/>
          </a:xfrm>
          <a:prstGeom prst="roundRect">
            <a:avLst/>
          </a:prstGeom>
          <a:solidFill>
            <a:srgbClr val="142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430767" y="1828800"/>
            <a:ext cx="54864" cy="347472"/>
          </a:xfrm>
          <a:prstGeom prst="rect">
            <a:avLst/>
          </a:prstGeom>
          <a:solidFill>
            <a:srgbClr val="9C6F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31936" y="1828800"/>
            <a:ext cx="2834640" cy="39319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800"/>
              </a:spcAft>
              <a:defRPr sz="1900" b="1">
                <a:solidFill>
                  <a:srgbClr val="F6FAFD"/>
                </a:solidFill>
                <a:latin typeface="Aptos"/>
              </a:defRPr>
            </a:pPr>
            <a:r>
              <a:t>3 · EVALUAR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58784" y="2359152"/>
            <a:ext cx="2798064" cy="3538727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800"/>
              </a:spcAft>
              <a:defRPr sz="1700" b="0">
                <a:solidFill>
                  <a:srgbClr val="AEC3D3"/>
                </a:solidFill>
                <a:latin typeface="Aptos"/>
              </a:defRPr>
            </a:pPr>
            <a:r>
              <a:t>297 registros (20%) reservados. Medimos MAE, RMSE, R² y validación cruzada de 5 pliegues.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A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1CBE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46888"/>
            <a:ext cx="10972800" cy="2286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1CBEA0"/>
                </a:solidFill>
                <a:latin typeface="Aptos"/>
              </a:defRPr>
            </a:pPr>
            <a:r>
              <a:t>CIENCIA DE DATOS EN ACCIÓN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58368"/>
            <a:ext cx="1124712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800"/>
              </a:spcAft>
              <a:defRPr sz="2900" b="1">
                <a:solidFill>
                  <a:srgbClr val="F6FAFD"/>
                </a:solidFill>
                <a:latin typeface="Aptos"/>
              </a:defRPr>
            </a:pPr>
            <a:r>
              <a:t>Etapa 3 · ¿Qué tan bien funcionó?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6437376"/>
            <a:ext cx="11201400" cy="10972"/>
          </a:xfrm>
          <a:prstGeom prst="rect">
            <a:avLst/>
          </a:prstGeom>
          <a:solidFill>
            <a:srgbClr val="354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6537960"/>
            <a:ext cx="11247120" cy="1828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AEC3D3"/>
                </a:solidFill>
                <a:latin typeface="Aptos"/>
              </a:defRPr>
            </a:pPr>
            <a:r>
              <a:t>PROYECTO FINAL · DATOS SINTÉTICOS                                      09 / 11</a:t>
            </a:r>
          </a:p>
        </p:txBody>
      </p:sp>
      <p:pic>
        <p:nvPicPr>
          <p:cNvPr id="8" name="Picture 7" descr="06_real_vs_predich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4063" y="1481328"/>
            <a:ext cx="5217425" cy="4462272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7607808" y="1545336"/>
            <a:ext cx="3968496" cy="4434840"/>
          </a:xfrm>
          <a:prstGeom prst="roundRect">
            <a:avLst/>
          </a:prstGeom>
          <a:solidFill>
            <a:srgbClr val="142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772400" y="1746504"/>
            <a:ext cx="54864" cy="347472"/>
          </a:xfrm>
          <a:prstGeom prst="rect">
            <a:avLst/>
          </a:prstGeom>
          <a:solidFill>
            <a:srgbClr val="1CBE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73568" y="1746504"/>
            <a:ext cx="3419856" cy="39319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800"/>
              </a:spcAft>
              <a:defRPr sz="1900" b="1">
                <a:solidFill>
                  <a:srgbClr val="F6FAFD"/>
                </a:solidFill>
                <a:latin typeface="Aptos"/>
              </a:defRPr>
            </a:pPr>
            <a:r>
              <a:t>RESULTADOS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00416" y="2276856"/>
            <a:ext cx="3383279" cy="3611879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800"/>
              </a:spcAft>
              <a:defRPr sz="1600" b="0">
                <a:solidFill>
                  <a:srgbClr val="AEC3D3"/>
                </a:solidFill>
                <a:latin typeface="Aptos"/>
              </a:defRPr>
            </a:pPr>
            <a:r>
              <a:t>R² en prueba: 0.861</a:t>
            </a:r>
          </a:p>
          <a:p>
            <a:pPr>
              <a:spcAft>
                <a:spcPts val="800"/>
              </a:spcAft>
              <a:defRPr sz="1600" b="0">
                <a:solidFill>
                  <a:srgbClr val="AEC3D3"/>
                </a:solidFill>
                <a:latin typeface="Aptos"/>
              </a:defRPr>
            </a:pPr>
          </a:p>
          <a:p>
            <a:pPr>
              <a:spcAft>
                <a:spcPts val="800"/>
              </a:spcAft>
              <a:defRPr sz="1600" b="0">
                <a:solidFill>
                  <a:srgbClr val="AEC3D3"/>
                </a:solidFill>
                <a:latin typeface="Aptos"/>
              </a:defRPr>
            </a:pPr>
            <a:r>
              <a:t>MAE del modelo: $764,628</a:t>
            </a:r>
          </a:p>
          <a:p>
            <a:pPr>
              <a:spcAft>
                <a:spcPts val="800"/>
              </a:spcAft>
              <a:defRPr sz="1600" b="0">
                <a:solidFill>
                  <a:srgbClr val="AEC3D3"/>
                </a:solidFill>
                <a:latin typeface="Aptos"/>
              </a:defRPr>
            </a:pPr>
          </a:p>
          <a:p>
            <a:pPr>
              <a:spcAft>
                <a:spcPts val="800"/>
              </a:spcAft>
              <a:defRPr sz="1600" b="0">
                <a:solidFill>
                  <a:srgbClr val="AEC3D3"/>
                </a:solidFill>
                <a:latin typeface="Aptos"/>
              </a:defRPr>
            </a:pPr>
            <a:r>
              <a:t>MAE del modelo base: $2,059,364</a:t>
            </a:r>
          </a:p>
          <a:p>
            <a:pPr>
              <a:spcAft>
                <a:spcPts val="800"/>
              </a:spcAft>
              <a:defRPr sz="1600" b="0">
                <a:solidFill>
                  <a:srgbClr val="AEC3D3"/>
                </a:solidFill>
                <a:latin typeface="Aptos"/>
              </a:defRPr>
            </a:pPr>
          </a:p>
          <a:p>
            <a:pPr>
              <a:spcAft>
                <a:spcPts val="800"/>
              </a:spcAft>
              <a:defRPr sz="1600" b="0">
                <a:solidFill>
                  <a:srgbClr val="AEC3D3"/>
                </a:solidFill>
                <a:latin typeface="Aptos"/>
              </a:defRPr>
            </a:pPr>
            <a:r>
              <a:t>El modelo mejora al baseline.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A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1CBE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46888"/>
            <a:ext cx="10972800" cy="2286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1CBEA0"/>
                </a:solidFill>
                <a:latin typeface="Aptos"/>
              </a:defRPr>
            </a:pPr>
            <a:r>
              <a:t>CIENCIA DE DATOS EN ACCIÓN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58368"/>
            <a:ext cx="1124712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800"/>
              </a:spcAft>
              <a:defRPr sz="2900" b="1">
                <a:solidFill>
                  <a:srgbClr val="F6FAFD"/>
                </a:solidFill>
                <a:latin typeface="Aptos"/>
              </a:defRPr>
            </a:pPr>
            <a:r>
              <a:t>Storytelling · De un CSV a una decisión informada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6437376"/>
            <a:ext cx="11201400" cy="10972"/>
          </a:xfrm>
          <a:prstGeom prst="rect">
            <a:avLst/>
          </a:prstGeom>
          <a:solidFill>
            <a:srgbClr val="354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6537960"/>
            <a:ext cx="11247120" cy="1828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AEC3D3"/>
                </a:solidFill>
                <a:latin typeface="Aptos"/>
              </a:defRPr>
            </a:pPr>
            <a:r>
              <a:t>PROYECTO FINAL · DATOS SINTÉTICOS                                      10 / 11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30352" y="1627632"/>
            <a:ext cx="5376672" cy="4361688"/>
          </a:xfrm>
          <a:prstGeom prst="roundRect">
            <a:avLst/>
          </a:prstGeom>
          <a:solidFill>
            <a:srgbClr val="142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94944" y="1828800"/>
            <a:ext cx="54864" cy="347472"/>
          </a:xfrm>
          <a:prstGeom prst="rect">
            <a:avLst/>
          </a:prstGeom>
          <a:solidFill>
            <a:srgbClr val="3C85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1828800"/>
            <a:ext cx="4828032" cy="39319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800"/>
              </a:spcAft>
              <a:defRPr sz="1900" b="1">
                <a:solidFill>
                  <a:srgbClr val="F6FAFD"/>
                </a:solidFill>
                <a:latin typeface="Aptos"/>
              </a:defRPr>
            </a:pPr>
            <a:r>
              <a:t>LO QUE APRENDIMOS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59" y="2359152"/>
            <a:ext cx="4791456" cy="3538727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AEC3D3"/>
                </a:solidFill>
                <a:latin typeface="Aptos"/>
              </a:defRPr>
            </a:pPr>
            <a:r>
              <a:t>La limpieza evita conclusiones engañosas. La estadística resume la dispersión. El modelo necesita compararse con una línea base y evaluarse sobre datos nunca vistos.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44768" y="1627632"/>
            <a:ext cx="5495544" cy="4361688"/>
          </a:xfrm>
          <a:prstGeom prst="roundRect">
            <a:avLst/>
          </a:prstGeom>
          <a:solidFill>
            <a:srgbClr val="142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309359" y="1828800"/>
            <a:ext cx="54864" cy="347472"/>
          </a:xfrm>
          <a:prstGeom prst="rect">
            <a:avLst/>
          </a:prstGeom>
          <a:solidFill>
            <a:srgbClr val="1CBE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10528" y="1828800"/>
            <a:ext cx="4946904" cy="39319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800"/>
              </a:spcAft>
              <a:defRPr sz="1900" b="1">
                <a:solidFill>
                  <a:srgbClr val="F6FAFD"/>
                </a:solidFill>
                <a:latin typeface="Aptos"/>
              </a:defRPr>
            </a:pPr>
            <a:r>
              <a:t>APLICACIÓN PROPUESTA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37376" y="2359152"/>
            <a:ext cx="4910328" cy="3538727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AEC3D3"/>
                </a:solidFill>
                <a:latin typeface="Aptos"/>
              </a:defRPr>
            </a:pPr>
            <a:r>
              <a:t>Un prototipo que valide extractos autorizados de SAP HCM y muestre patrones agregados para planeación presupuestaria. Sin decisiones individuales automáticas.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C1A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1CBE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75488" y="246888"/>
            <a:ext cx="10972800" cy="2286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800"/>
              </a:spcAft>
              <a:defRPr sz="1100" b="1">
                <a:solidFill>
                  <a:srgbClr val="1CBEA0"/>
                </a:solidFill>
                <a:latin typeface="Aptos"/>
              </a:defRPr>
            </a:pPr>
            <a:r>
              <a:t>CIENCIA DE DATOS EN ACCIÓN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658368"/>
            <a:ext cx="11247120" cy="73152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800"/>
              </a:spcAft>
              <a:defRPr sz="2900" b="1">
                <a:solidFill>
                  <a:srgbClr val="F6FAFD"/>
                </a:solidFill>
                <a:latin typeface="Aptos"/>
              </a:defRPr>
            </a:pPr>
            <a:r>
              <a:t>Conclusiones, límites y próximos pasos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6437376"/>
            <a:ext cx="11201400" cy="10972"/>
          </a:xfrm>
          <a:prstGeom prst="rect">
            <a:avLst/>
          </a:prstGeom>
          <a:solidFill>
            <a:srgbClr val="354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6537960"/>
            <a:ext cx="11247120" cy="18288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800"/>
              </a:spcAft>
              <a:defRPr sz="900" b="0">
                <a:solidFill>
                  <a:srgbClr val="AEC3D3"/>
                </a:solidFill>
                <a:latin typeface="Aptos"/>
              </a:defRPr>
            </a:pPr>
            <a:r>
              <a:t>PROYECTO FINAL · DATOS SINTÉTICOS                                      11 / 11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12064" y="1600200"/>
            <a:ext cx="3675887" cy="4480560"/>
          </a:xfrm>
          <a:prstGeom prst="roundRect">
            <a:avLst/>
          </a:prstGeom>
          <a:solidFill>
            <a:srgbClr val="142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76656" y="1801368"/>
            <a:ext cx="54864" cy="347472"/>
          </a:xfrm>
          <a:prstGeom prst="rect">
            <a:avLst/>
          </a:prstGeom>
          <a:solidFill>
            <a:srgbClr val="1CBE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7824" y="1801368"/>
            <a:ext cx="3127247" cy="39319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800"/>
              </a:spcAft>
              <a:defRPr sz="1900" b="1">
                <a:solidFill>
                  <a:srgbClr val="F6FAFD"/>
                </a:solidFill>
                <a:latin typeface="Aptos"/>
              </a:defRPr>
            </a:pPr>
            <a:r>
              <a:t>CONCLUSIÓN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" y="2331720"/>
            <a:ext cx="3090671" cy="36576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AEC3D3"/>
                </a:solidFill>
                <a:latin typeface="Aptos"/>
              </a:defRPr>
            </a:pPr>
            <a:r>
              <a:t>Se construyó un flujo completo, reproducible y evaluado. El modelo explica parte importante de la variación presente en la simulación.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97680" y="1600200"/>
            <a:ext cx="3675887" cy="4480560"/>
          </a:xfrm>
          <a:prstGeom prst="roundRect">
            <a:avLst/>
          </a:prstGeom>
          <a:solidFill>
            <a:srgbClr val="142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62272" y="1801368"/>
            <a:ext cx="54864" cy="347472"/>
          </a:xfrm>
          <a:prstGeom prst="rect">
            <a:avLst/>
          </a:prstGeom>
          <a:solidFill>
            <a:srgbClr val="F5B1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63440" y="1801368"/>
            <a:ext cx="3127247" cy="39319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800"/>
              </a:spcAft>
              <a:defRPr sz="1900" b="1">
                <a:solidFill>
                  <a:srgbClr val="F6FAFD"/>
                </a:solidFill>
                <a:latin typeface="Aptos"/>
              </a:defRPr>
            </a:pPr>
            <a:r>
              <a:t>LÍMITES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90288" y="2331720"/>
            <a:ext cx="3090671" cy="36576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AEC3D3"/>
                </a:solidFill>
                <a:latin typeface="Aptos"/>
              </a:defRPr>
            </a:pPr>
            <a:r>
              <a:t>Datos sintéticos; sin generalización automática a salarios reales. No inferimos causalidad. Un outlier no es siempre un dato erróneo.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83296" y="1600200"/>
            <a:ext cx="3584448" cy="4480560"/>
          </a:xfrm>
          <a:prstGeom prst="roundRect">
            <a:avLst/>
          </a:prstGeom>
          <a:solidFill>
            <a:srgbClr val="1428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247888" y="1801368"/>
            <a:ext cx="54864" cy="347472"/>
          </a:xfrm>
          <a:prstGeom prst="rect">
            <a:avLst/>
          </a:prstGeom>
          <a:solidFill>
            <a:srgbClr val="9C6F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49056" y="1801368"/>
            <a:ext cx="3035808" cy="393192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800"/>
              </a:spcAft>
              <a:defRPr sz="1900" b="1">
                <a:solidFill>
                  <a:srgbClr val="F6FAFD"/>
                </a:solidFill>
                <a:latin typeface="Aptos"/>
              </a:defRPr>
            </a:pPr>
            <a:r>
              <a:t>PRÓXIMO PASO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75904" y="2331720"/>
            <a:ext cx="2999232" cy="3657600"/>
          </a:xfrm>
          <a:prstGeom prst="rect">
            <a:avLst/>
          </a:prstGeom>
          <a:noFill/>
        </p:spPr>
        <p:txBody>
          <a:bodyPr wrap="square" lIns="18288" rIns="18288" tIns="9144" bIns="9144">
            <a:spAutoFit/>
          </a:bodyPr>
          <a:lstStyle/>
          <a:p>
            <a:pPr>
              <a:spcAft>
                <a:spcPts val="800"/>
              </a:spcAft>
              <a:defRPr sz="1800" b="0">
                <a:solidFill>
                  <a:srgbClr val="AEC3D3"/>
                </a:solidFill>
                <a:latin typeface="Aptos"/>
              </a:defRPr>
            </a:pPr>
            <a:r>
              <a:t>Con permisos y datos anonimizados: validar calidad, vigilar sesgos y contrastar predicciones con especialistas humanos.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